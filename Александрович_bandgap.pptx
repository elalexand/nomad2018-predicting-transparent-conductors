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4"/>
  </p:normalViewPr>
  <p:slideViewPr>
    <p:cSldViewPr snapToGrid="0">
      <p:cViewPr varScale="1">
        <p:scale>
          <a:sx n="148" d="100"/>
          <a:sy n="148" d="100"/>
        </p:scale>
        <p:origin x="62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3e554378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3e554378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3e554378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3e554378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3e554378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3e554378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3e554378d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3e554378d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3e554378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3e554378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3e554378d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3e554378d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e554378d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e554378d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3e554378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3e554378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3e554378d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3e554378d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3e554378d_4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3e554378d_4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3e554378d_5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3e554378d_5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3e554378d_5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3e554378d_5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3e554378d_5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3e554378d_5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3e554378d_5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3e554378d_5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3e554378d_5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3e554378d_5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3e554378d_5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3e554378d_5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3e554378d_4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3e554378d_4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3e554378d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3e554378d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0" y="1007875"/>
            <a:ext cx="9037500" cy="18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ru" sz="3380" dirty="0">
                <a:solidFill>
                  <a:schemeClr val="dk1"/>
                </a:solidFill>
              </a:rPr>
              <a:t>Использование методов KRR для предсказания ширины запрещенной зоны полупроводников</a:t>
            </a:r>
            <a:endParaRPr sz="3380" dirty="0"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188200" y="4281350"/>
            <a:ext cx="3955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dk1"/>
                </a:solidFill>
              </a:rPr>
              <a:t>Александрович Елизавета</a:t>
            </a: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12875" y="0"/>
            <a:ext cx="82251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accent2"/>
                </a:solidFill>
              </a:rPr>
              <a:t>Ridge Regression</a:t>
            </a:r>
            <a:endParaRPr sz="2100">
              <a:solidFill>
                <a:schemeClr val="accent2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46475" y="685250"/>
            <a:ext cx="8157900" cy="3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chemeClr val="dk1"/>
                </a:solidFill>
              </a:rPr>
              <a:t>Ridge regression</a:t>
            </a:r>
            <a:r>
              <a:rPr lang="ru" sz="1700">
                <a:solidFill>
                  <a:schemeClr val="dk1"/>
                </a:solidFill>
              </a:rPr>
              <a:t> </a:t>
            </a:r>
            <a:r>
              <a:rPr lang="ru" sz="2300">
                <a:solidFill>
                  <a:schemeClr val="dk1"/>
                </a:solidFill>
              </a:rPr>
              <a:t>- </a:t>
            </a:r>
            <a:r>
              <a:rPr lang="ru" sz="1700">
                <a:solidFill>
                  <a:schemeClr val="dk1"/>
                </a:solidFill>
              </a:rPr>
              <a:t>это модификация классической линейной регрессии, разработанная для борьбы с переобучением. К стандартной функции потерь (MSE) добавляется регуляризационное слагаемое пропорциональное сумме квадратов весов. В результате модель немного теряет в точности на обучающей выборке, но становится гораздо более устойчивой и намного лучше предсказывает ответы для новых объектов.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12875" y="3172850"/>
            <a:ext cx="6958800" cy="10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L(α) = |Y−Xα|</a:t>
            </a:r>
            <a:r>
              <a:rPr lang="ru" sz="32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 </a:t>
            </a:r>
            <a:r>
              <a:rPr lang="ru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 λ|α|</a:t>
            </a:r>
            <a:r>
              <a:rPr lang="ru" sz="32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3200" baseline="30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212875" y="0"/>
            <a:ext cx="82251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</a:rPr>
              <a:t>Kernel trick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246475" y="605100"/>
            <a:ext cx="8157900" cy="3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chemeClr val="dk1"/>
                </a:solidFill>
              </a:rPr>
              <a:t>Kernel trick </a:t>
            </a:r>
            <a:r>
              <a:rPr lang="ru" sz="1700">
                <a:solidFill>
                  <a:schemeClr val="dk1"/>
                </a:solidFill>
              </a:rPr>
              <a:t>- метод, который позволяет линейным алгоритмам разделять сложные, нелинейные данные путем их переноса в пространство </a:t>
            </a:r>
            <a:r>
              <a:rPr lang="ru" sz="1600">
                <a:solidFill>
                  <a:schemeClr val="dk1"/>
                </a:solidFill>
              </a:rPr>
              <a:t>более высокой размерности</a:t>
            </a:r>
            <a:r>
              <a:rPr lang="ru" sz="1700">
                <a:solidFill>
                  <a:schemeClr val="dk1"/>
                </a:solidFill>
              </a:rPr>
              <a:t>. 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Вместо того чтобы строить кривые линии на исходной плоской плоскости алгоритм добавляет к осям координат </a:t>
            </a:r>
            <a:r>
              <a:rPr lang="ru" sz="1500">
                <a:solidFill>
                  <a:schemeClr val="dk1"/>
                </a:solidFill>
              </a:rPr>
              <a:t>x</a:t>
            </a:r>
            <a:r>
              <a:rPr lang="ru" sz="1600">
                <a:solidFill>
                  <a:schemeClr val="dk1"/>
                </a:solidFill>
              </a:rPr>
              <a:t> и </a:t>
            </a:r>
            <a:r>
              <a:rPr lang="ru" sz="1500">
                <a:solidFill>
                  <a:schemeClr val="dk1"/>
                </a:solidFill>
              </a:rPr>
              <a:t>y</a:t>
            </a:r>
            <a:r>
              <a:rPr lang="ru" sz="1600">
                <a:solidFill>
                  <a:schemeClr val="dk1"/>
                </a:solidFill>
              </a:rPr>
              <a:t> новые измерения. В этом новом пространстве запутанные данные «выпрямляются» благодаря чему их становится возможно легко и чисто разделить обычной плоской поверхностью</a:t>
            </a:r>
            <a:r>
              <a:rPr lang="ru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</p:txBody>
      </p:sp>
      <p:pic>
        <p:nvPicPr>
          <p:cNvPr id="69" name="Google Shape;69;p15" title="Unknown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113" y="2571750"/>
            <a:ext cx="6510625" cy="24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212875" y="0"/>
            <a:ext cx="82251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</a:rPr>
              <a:t>Kernel trick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246475" y="685250"/>
            <a:ext cx="8157900" cy="3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chemeClr val="dk1"/>
                </a:solidFill>
              </a:rPr>
              <a:t>Теорема Мерсера</a:t>
            </a:r>
            <a:r>
              <a:rPr lang="ru" sz="2000">
                <a:solidFill>
                  <a:schemeClr val="dk1"/>
                </a:solidFill>
              </a:rPr>
              <a:t> </a:t>
            </a:r>
            <a:r>
              <a:rPr lang="ru" sz="2600">
                <a:solidFill>
                  <a:schemeClr val="dk1"/>
                </a:solidFill>
              </a:rPr>
              <a:t>-</a:t>
            </a:r>
            <a:r>
              <a:rPr lang="ru" sz="2500">
                <a:solidFill>
                  <a:schemeClr val="dk1"/>
                </a:solidFill>
              </a:rPr>
              <a:t> </a:t>
            </a:r>
            <a:r>
              <a:rPr lang="ru" sz="1700">
                <a:solidFill>
                  <a:schemeClr val="dk1"/>
                </a:solidFill>
              </a:rPr>
              <a:t>Если непрерывная симметричная функция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K(x, x′): X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× X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→ R 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является неотрицательно определенной</a:t>
            </a:r>
            <a:r>
              <a:rPr lang="ru" sz="1700">
                <a:solidFill>
                  <a:schemeClr val="dk1"/>
                </a:solidFill>
              </a:rPr>
              <a:t>, то ее можно разложить </a:t>
            </a:r>
            <a:r>
              <a:rPr lang="ru" sz="1600">
                <a:solidFill>
                  <a:schemeClr val="dk1"/>
                </a:solidFill>
              </a:rPr>
              <a:t>в абсолютно и равномерно сходящийся ряд вида: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K(x, x′)= </a:t>
            </a:r>
            <a:r>
              <a:rPr lang="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∑</a:t>
            </a:r>
            <a:r>
              <a:rPr lang="ru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​ λ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ru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​ψ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ru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​(x)ψ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​</a:t>
            </a:r>
            <a:r>
              <a:rPr lang="ru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(x′), </a:t>
            </a:r>
            <a:r>
              <a:rPr lang="ru" sz="1700">
                <a:solidFill>
                  <a:schemeClr val="dk1"/>
                </a:solidFill>
              </a:rPr>
              <a:t>где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ru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​ ≥ 0</a:t>
            </a:r>
            <a:r>
              <a:rPr lang="ru" sz="1700">
                <a:solidFill>
                  <a:schemeClr val="dk1"/>
                </a:solidFill>
              </a:rPr>
              <a:t> — неотрицательные вещественные числа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ψ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i​</a:t>
            </a:r>
            <a:r>
              <a:rPr lang="ru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(x)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700">
                <a:solidFill>
                  <a:schemeClr val="dk1"/>
                </a:solidFill>
              </a:rPr>
              <a:t>— ортонормированная система функций в </a:t>
            </a:r>
            <a:r>
              <a:rPr lang="ru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700">
                <a:solidFill>
                  <a:schemeClr val="dk1"/>
                </a:solidFill>
              </a:rPr>
              <a:t> (собственные функции оператора).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212875" y="0"/>
            <a:ext cx="82251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</a:rPr>
              <a:t>Kernel trick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56700" y="605100"/>
            <a:ext cx="9144000" cy="4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Исходные данные:</a:t>
            </a:r>
            <a:r>
              <a:rPr lang="ru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21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5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21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5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,...,</a:t>
            </a:r>
            <a:r>
              <a:rPr lang="ru" sz="21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7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ru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lang="ru" sz="1700">
                <a:solidFill>
                  <a:schemeClr val="dk1"/>
                </a:solidFill>
              </a:rPr>
              <a:t>векторы из</a:t>
            </a:r>
            <a:r>
              <a:rPr lang="ru" sz="1900">
                <a:solidFill>
                  <a:schemeClr val="dk1"/>
                </a:solidFill>
              </a:rPr>
              <a:t>  </a:t>
            </a:r>
            <a:r>
              <a:rPr lang="ru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n,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Ядро, удовлетворяющее Теореме Мерсера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K(x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x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= &lt;Ф(x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), Ф(x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)&gt;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y’</a:t>
            </a:r>
            <a:r>
              <a:rPr lang="ru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21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7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ru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∑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 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α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j*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​K(</a:t>
            </a:r>
            <a:r>
              <a:rPr lang="ru" sz="2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5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​,</a:t>
            </a:r>
            <a:r>
              <a:rPr lang="ru" sz="2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5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ru" sz="2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​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)- функция предсказания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L(α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,...α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)=</a:t>
            </a:r>
            <a:r>
              <a:rPr lang="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∑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(y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​− </a:t>
            </a:r>
            <a:r>
              <a:rPr lang="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∑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 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α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j*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​K(</a:t>
            </a:r>
            <a:r>
              <a:rPr lang="ru" sz="2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5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ru" sz="2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​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2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5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​)</a:t>
            </a:r>
            <a:r>
              <a:rPr lang="ru" sz="22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 функция потерь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При этом мы неявно нашли вектор коэффициентов  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 = ∑​ α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*​Φ(</a:t>
            </a:r>
            <a:r>
              <a:rPr lang="ru" sz="2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7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ru" sz="18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​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y’(</a:t>
            </a:r>
            <a:r>
              <a:rPr lang="ru" sz="22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= w</a:t>
            </a:r>
            <a:r>
              <a:rPr lang="ru" sz="22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Φ(</a:t>
            </a:r>
            <a:r>
              <a:rPr lang="ru" sz="22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aseline="30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/>
        </p:nvSpPr>
        <p:spPr>
          <a:xfrm>
            <a:off x="212875" y="0"/>
            <a:ext cx="82251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</a:rPr>
              <a:t>Kernel trick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246475" y="685250"/>
            <a:ext cx="4217100" cy="17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246475" y="791550"/>
            <a:ext cx="6221700" cy="17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Как считается на практике: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y’</a:t>
            </a:r>
            <a:r>
              <a:rPr lang="ru" sz="3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30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3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3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3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∑</a:t>
            </a:r>
            <a:r>
              <a:rPr lang="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 </a:t>
            </a:r>
            <a:r>
              <a:rPr lang="ru" sz="3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α</a:t>
            </a:r>
            <a:r>
              <a:rPr lang="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j*</a:t>
            </a:r>
            <a:r>
              <a:rPr lang="ru" sz="3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​K(</a:t>
            </a:r>
            <a:r>
              <a:rPr lang="ru" sz="31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24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ru" sz="3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​,</a:t>
            </a:r>
            <a:r>
              <a:rPr lang="ru" sz="31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3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212875" y="2758200"/>
            <a:ext cx="5514000" cy="19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Можно представить как: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y’(</a:t>
            </a:r>
            <a:r>
              <a:rPr lang="ru" sz="31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3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= w</a:t>
            </a:r>
            <a:r>
              <a:rPr lang="ru" sz="31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ru" sz="3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Φ(</a:t>
            </a:r>
            <a:r>
              <a:rPr lang="ru" sz="31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3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/>
        </p:nvSpPr>
        <p:spPr>
          <a:xfrm>
            <a:off x="212875" y="0"/>
            <a:ext cx="82251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</a:rPr>
              <a:t>Kernel trick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0" y="644375"/>
            <a:ext cx="9144000" cy="4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Пример - ядро </a:t>
            </a:r>
            <a:r>
              <a:rPr lang="ru" sz="1700" b="1">
                <a:solidFill>
                  <a:schemeClr val="dk1"/>
                </a:solidFill>
              </a:rPr>
              <a:t>RBF (</a:t>
            </a:r>
            <a:r>
              <a:rPr lang="ru" sz="1600" b="1">
                <a:solidFill>
                  <a:schemeClr val="dk1"/>
                </a:solidFill>
              </a:rPr>
              <a:t>Radial Basis Function</a:t>
            </a:r>
            <a:r>
              <a:rPr lang="ru" sz="1700" b="1">
                <a:solidFill>
                  <a:schemeClr val="dk1"/>
                </a:solidFill>
              </a:rPr>
              <a:t>)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K(x, x′) = exp(−γ|x−x′|</a:t>
            </a:r>
            <a:r>
              <a:rPr lang="ru" sz="1800" baseline="30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​)</a:t>
            </a:r>
            <a:endParaRPr sz="18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K(x, x′) = exp(−(x</a:t>
            </a:r>
            <a:r>
              <a:rPr lang="ru" sz="18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−2xx′+(x′)</a:t>
            </a:r>
            <a:r>
              <a:rPr lang="ru" sz="18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))=exp(−x</a:t>
            </a:r>
            <a:r>
              <a:rPr lang="ru" sz="18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)⋅exp(2xx′)⋅exp(−(x′)</a:t>
            </a:r>
            <a:r>
              <a:rPr lang="ru" sz="18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K(x, x′) = </a:t>
            </a:r>
            <a:r>
              <a:rPr lang="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∑​</a:t>
            </a: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(exp(−x</a:t>
            </a:r>
            <a:r>
              <a:rPr lang="ru" sz="18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)⋅sqr(2</a:t>
            </a:r>
            <a:r>
              <a:rPr lang="ru" sz="18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/n!)⋅​​x</a:t>
            </a:r>
            <a:r>
              <a:rPr lang="ru" sz="18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)⋅(exp(-(x′)</a:t>
            </a:r>
            <a:r>
              <a:rPr lang="ru" sz="18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)​​⋅sqr(2</a:t>
            </a:r>
            <a:r>
              <a:rPr lang="ru" sz="18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/n!)⋅(x′)</a:t>
            </a:r>
            <a:r>
              <a:rPr lang="ru" sz="18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K(x, x′) = ⟨Φ(x),Φ(x′)⟩</a:t>
            </a:r>
            <a:endParaRPr sz="18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Φ(x)=exp(−x</a:t>
            </a:r>
            <a:r>
              <a:rPr lang="ru" sz="18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)⋅(1, sqr(2/1!)x, sqr(4/2!)x</a:t>
            </a:r>
            <a:r>
              <a:rPr lang="ru" sz="18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sqr(8/3!)x</a:t>
            </a:r>
            <a:r>
              <a:rPr lang="ru" sz="1800" baseline="3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,…)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ru" sz="1700">
                <a:solidFill>
                  <a:schemeClr val="dk1"/>
                </a:solidFill>
              </a:rPr>
              <a:t>Расширенное пространство параметров бесконечно</a:t>
            </a:r>
            <a:endParaRPr sz="17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○"/>
            </a:pPr>
            <a:r>
              <a:rPr lang="ru" sz="1800">
                <a:solidFill>
                  <a:srgbClr val="999999"/>
                </a:solidFill>
              </a:rPr>
              <a:t>В коде используется именно оно</a:t>
            </a:r>
            <a:endParaRPr sz="1800">
              <a:solidFill>
                <a:srgbClr val="99999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</p:txBody>
      </p:sp>
      <p:cxnSp>
        <p:nvCxnSpPr>
          <p:cNvPr id="96" name="Google Shape;96;p19"/>
          <p:cNvCxnSpPr/>
          <p:nvPr/>
        </p:nvCxnSpPr>
        <p:spPr>
          <a:xfrm>
            <a:off x="4248300" y="2598550"/>
            <a:ext cx="0" cy="513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/>
        </p:nvSpPr>
        <p:spPr>
          <a:xfrm>
            <a:off x="212875" y="0"/>
            <a:ext cx="82251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</a:rPr>
              <a:t>Kernel trick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0" y="644375"/>
            <a:ext cx="6001500" cy="27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Пример - ядро </a:t>
            </a:r>
            <a:r>
              <a:rPr lang="ru" sz="1700" b="1">
                <a:solidFill>
                  <a:schemeClr val="dk1"/>
                </a:solidFill>
              </a:rPr>
              <a:t>RBF (</a:t>
            </a:r>
            <a:r>
              <a:rPr lang="ru" sz="1600" b="1">
                <a:solidFill>
                  <a:schemeClr val="dk1"/>
                </a:solidFill>
              </a:rPr>
              <a:t>Radial Basis Function</a:t>
            </a:r>
            <a:r>
              <a:rPr lang="ru" sz="1700" b="1">
                <a:solidFill>
                  <a:schemeClr val="dk1"/>
                </a:solidFill>
              </a:rPr>
              <a:t>)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K(x, x′) = exp(−γ|x−x′|</a:t>
            </a:r>
            <a:r>
              <a:rPr lang="ru" sz="1800" baseline="30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​)</a:t>
            </a:r>
            <a:endParaRPr sz="18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RBF представляет собой многомерный колокол Гаусса. Максимальное значение, равное </a:t>
            </a:r>
            <a:r>
              <a:rPr lang="ru" sz="1600" b="1">
                <a:solidFill>
                  <a:schemeClr val="dk1"/>
                </a:solidFill>
              </a:rPr>
              <a:t>1</a:t>
            </a:r>
            <a:r>
              <a:rPr lang="ru" sz="1700">
                <a:solidFill>
                  <a:schemeClr val="dk1"/>
                </a:solidFill>
              </a:rPr>
              <a:t>, достигается, когда объекты идентичны. По мере того как объекты удаляются друг от друга в исходном пространстве, значение ядра стремится к </a:t>
            </a:r>
            <a:r>
              <a:rPr lang="ru" sz="1600" b="1">
                <a:solidFill>
                  <a:schemeClr val="dk1"/>
                </a:solidFill>
              </a:rPr>
              <a:t>0</a:t>
            </a:r>
            <a:r>
              <a:rPr lang="ru" sz="1700">
                <a:solidFill>
                  <a:schemeClr val="dk1"/>
                </a:solidFill>
              </a:rPr>
              <a:t>. Таким образом, RBF выступает в роли меры сходства.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101175" y="3346400"/>
            <a:ext cx="8783100" cy="11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Гиперпараметр -</a:t>
            </a:r>
            <a:r>
              <a:rPr lang="ru" sz="1800">
                <a:solidFill>
                  <a:schemeClr val="dk1"/>
                </a:solidFill>
              </a:rPr>
              <a:t> </a:t>
            </a:r>
            <a:r>
              <a:rPr lang="ru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γ</a:t>
            </a:r>
            <a:endParaRPr sz="13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ru" sz="1700">
                <a:solidFill>
                  <a:schemeClr val="dk1"/>
                </a:solidFill>
              </a:rPr>
              <a:t>Маленький γ</a:t>
            </a:r>
            <a:r>
              <a:rPr lang="ru" sz="1700" b="1">
                <a:solidFill>
                  <a:schemeClr val="dk1"/>
                </a:solidFill>
              </a:rPr>
              <a:t>:</a:t>
            </a:r>
            <a:r>
              <a:rPr lang="ru" sz="1700">
                <a:solidFill>
                  <a:schemeClr val="dk1"/>
                </a:solidFill>
              </a:rPr>
              <a:t> Радиус влияния велик, модель стабильна и проста.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ru" sz="1700">
                <a:solidFill>
                  <a:schemeClr val="dk1"/>
                </a:solidFill>
              </a:rPr>
              <a:t>Большой γ</a:t>
            </a:r>
            <a:r>
              <a:rPr lang="ru" sz="1700" b="1">
                <a:solidFill>
                  <a:schemeClr val="dk1"/>
                </a:solidFill>
              </a:rPr>
              <a:t>:</a:t>
            </a:r>
            <a:r>
              <a:rPr lang="ru" sz="1700">
                <a:solidFill>
                  <a:schemeClr val="dk1"/>
                </a:solidFill>
              </a:rPr>
              <a:t> Радиус влияния мал. Модель создает индивидуальные изолированные островки вокруг точек, что приводит к высокой точности на обучении, но плохой обобщающей способности.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4" name="Google Shape;104;p20" title="Gemini_Generated_Image_1j5iy51j5iy51j5i.png"/>
          <p:cNvPicPr preferRelativeResize="0"/>
          <p:nvPr/>
        </p:nvPicPr>
        <p:blipFill rotWithShape="1">
          <a:blip r:embed="rId3">
            <a:alphaModFix/>
          </a:blip>
          <a:srcRect r="48376"/>
          <a:stretch/>
        </p:blipFill>
        <p:spPr>
          <a:xfrm>
            <a:off x="6001508" y="1247400"/>
            <a:ext cx="3054041" cy="225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 title="Unknown-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162" y="605100"/>
            <a:ext cx="6232525" cy="433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/>
        </p:nvSpPr>
        <p:spPr>
          <a:xfrm>
            <a:off x="212875" y="0"/>
            <a:ext cx="82251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</a:rPr>
              <a:t>Kernel trick</a:t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/>
        </p:nvSpPr>
        <p:spPr>
          <a:xfrm>
            <a:off x="212875" y="0"/>
            <a:ext cx="82251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</a:rPr>
              <a:t>Kernel Ridge Regression 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311400" y="1548825"/>
            <a:ext cx="8521200" cy="15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100">
                <a:latin typeface="Courier New"/>
                <a:ea typeface="Courier New"/>
                <a:cs typeface="Courier New"/>
                <a:sym typeface="Courier New"/>
              </a:rPr>
              <a:t>L(α)=(1/2)​|Y−Kα|</a:t>
            </a:r>
            <a:r>
              <a:rPr lang="ru" sz="4100" baseline="300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4100">
                <a:latin typeface="Courier New"/>
                <a:ea typeface="Courier New"/>
                <a:cs typeface="Courier New"/>
                <a:sym typeface="Courier New"/>
              </a:rPr>
              <a:t>​+(</a:t>
            </a:r>
            <a:r>
              <a:rPr lang="ru" sz="4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λ/2</a:t>
            </a:r>
            <a:r>
              <a:rPr lang="ru" sz="4100">
                <a:latin typeface="Courier New"/>
                <a:ea typeface="Courier New"/>
                <a:cs typeface="Courier New"/>
                <a:sym typeface="Courier New"/>
              </a:rPr>
              <a:t>)​α</a:t>
            </a:r>
            <a:r>
              <a:rPr lang="ru" sz="4100" baseline="30000"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ru" sz="4100">
                <a:latin typeface="Courier New"/>
                <a:ea typeface="Courier New"/>
                <a:cs typeface="Courier New"/>
                <a:sym typeface="Courier New"/>
              </a:rPr>
              <a:t>Kα</a:t>
            </a:r>
            <a:endParaRPr sz="41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ctrTitle"/>
          </p:nvPr>
        </p:nvSpPr>
        <p:spPr>
          <a:xfrm>
            <a:off x="455400" y="1174450"/>
            <a:ext cx="8438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200" b="1">
                <a:solidFill>
                  <a:srgbClr val="202124"/>
                </a:solidFill>
              </a:rPr>
              <a:t>Nomad2018 </a:t>
            </a:r>
            <a:endParaRPr sz="4200" b="1">
              <a:solidFill>
                <a:srgbClr val="202124"/>
              </a:solidFill>
            </a:endParaRPr>
          </a:p>
          <a:p>
            <a:pPr marL="0" lvl="0" indent="0" algn="l" rtl="0">
              <a:lnSpc>
                <a:spcPct val="122222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4200" b="1">
                <a:solidFill>
                  <a:srgbClr val="202124"/>
                </a:solidFill>
              </a:rPr>
              <a:t>Predicting Transparent Conductors</a:t>
            </a:r>
            <a:endParaRPr sz="6700"/>
          </a:p>
        </p:txBody>
      </p:sp>
      <p:sp>
        <p:nvSpPr>
          <p:cNvPr id="122" name="Google Shape;122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>
            <a:spLocks noGrp="1"/>
          </p:cNvSpPr>
          <p:nvPr>
            <p:ph type="ctrTitle"/>
          </p:nvPr>
        </p:nvSpPr>
        <p:spPr>
          <a:xfrm>
            <a:off x="311700" y="210175"/>
            <a:ext cx="8520600" cy="7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880"/>
              <a:t>Introduction</a:t>
            </a:r>
            <a:endParaRPr sz="3880"/>
          </a:p>
        </p:txBody>
      </p:sp>
      <p:sp>
        <p:nvSpPr>
          <p:cNvPr id="128" name="Google Shape;128;p24"/>
          <p:cNvSpPr txBox="1">
            <a:spLocks noGrp="1"/>
          </p:cNvSpPr>
          <p:nvPr>
            <p:ph type="subTitle" idx="1"/>
          </p:nvPr>
        </p:nvSpPr>
        <p:spPr>
          <a:xfrm>
            <a:off x="311700" y="1016111"/>
            <a:ext cx="8520600" cy="3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ru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Соревнование NOMAD 2018 Kaggle Challenge было посвящено предсказанию свойств новых материалов — прозрачных проводящих оксидов.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ru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2400 материалов в тренировочном наборе: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ru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Для каждого материала: состав (Al, Ga, In, O), геометрия кристаллической решётки, пространственная группа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ru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Координаты атомов в формате XYZ (3D-структура)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ru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600 материалов в тестовом наборе: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ru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Только структура и состав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ru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Метрика качества — RMSLE, среднеквадратичная логарифмическая ошибка. Чем она меньше, тем лучше. Победители достигли значения 0.020, что считается очень высоким результатом для такого типа задач.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24" title="Снимок экрана 2026-05-22 в 02.54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775" y="2979675"/>
            <a:ext cx="4120624" cy="98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ctrTitle"/>
          </p:nvPr>
        </p:nvSpPr>
        <p:spPr>
          <a:xfrm>
            <a:off x="311700" y="80050"/>
            <a:ext cx="8520600" cy="86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880"/>
              <a:t>Winner’s methods</a:t>
            </a:r>
            <a:endParaRPr sz="3880"/>
          </a:p>
        </p:txBody>
      </p:sp>
      <p:sp>
        <p:nvSpPr>
          <p:cNvPr id="135" name="Google Shape;135;p25"/>
          <p:cNvSpPr txBox="1">
            <a:spLocks noGrp="1"/>
          </p:cNvSpPr>
          <p:nvPr>
            <p:ph type="subTitle" idx="1"/>
          </p:nvPr>
        </p:nvSpPr>
        <p:spPr>
          <a:xfrm>
            <a:off x="421775" y="2571750"/>
            <a:ext cx="3961200" cy="21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Победители строили кристаллический граф, где атомы — это узлы, а ионные связи между ними - рёбра. 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Затем из этого графа извлекали n-граммы — последовательности атомов длины n (униграммы, биграммы, триграммы, 4-граммы). 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Полученные n-граммы векторизовали (bag-of-ngrams) и подавали на вход Kernel Ridge Regression.</a:t>
            </a:r>
            <a:endParaRPr sz="3000"/>
          </a:p>
        </p:txBody>
      </p:sp>
      <p:pic>
        <p:nvPicPr>
          <p:cNvPr id="136" name="Google Shape;136;p25" title="Снимок экрана 2026-05-22 в 02.32.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04013"/>
            <a:ext cx="9144003" cy="150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/>
        </p:nvSpPr>
        <p:spPr>
          <a:xfrm>
            <a:off x="4871100" y="2571750"/>
            <a:ext cx="39612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Третье место использовали SOAP 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(Smooth Overlap of Atomic Positions) — представление, которое описывает локальное окружение каждого атома через разложение атомной плотности в радиальные и угловые базисные функции. Полученные векторы усредняли по всем атомам структуры. В качестве регрессора использовали нейронную сеть.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ctrTitle"/>
          </p:nvPr>
        </p:nvSpPr>
        <p:spPr>
          <a:xfrm>
            <a:off x="371750" y="264250"/>
            <a:ext cx="5272200" cy="62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880"/>
              <a:t>Solution with KRR</a:t>
            </a:r>
            <a:endParaRPr sz="3880"/>
          </a:p>
        </p:txBody>
      </p:sp>
      <p:sp>
        <p:nvSpPr>
          <p:cNvPr id="143" name="Google Shape;143;p26"/>
          <p:cNvSpPr txBox="1">
            <a:spLocks noGrp="1"/>
          </p:cNvSpPr>
          <p:nvPr>
            <p:ph type="subTitle" idx="1"/>
          </p:nvPr>
        </p:nvSpPr>
        <p:spPr>
          <a:xfrm>
            <a:off x="330009" y="941900"/>
            <a:ext cx="8520600" cy="39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ru" sz="169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Реализация SOAP + KRR, где:</a:t>
            </a:r>
            <a:endParaRPr sz="169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2425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950"/>
              <a:buFont typeface="Roboto"/>
              <a:buChar char="●"/>
            </a:pPr>
            <a:r>
              <a:rPr lang="ru" sz="195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SOAP — описывает локальное атомное окружение</a:t>
            </a:r>
            <a:endParaRPr sz="195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242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950"/>
              <a:buFont typeface="Roboto"/>
              <a:buChar char="●"/>
            </a:pPr>
            <a:r>
              <a:rPr lang="ru" sz="195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Усреднение по атомам — каждый материал представлен вектором (среднее атомных дескрипторов)</a:t>
            </a:r>
            <a:endParaRPr sz="195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242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950"/>
              <a:buFont typeface="Roboto"/>
              <a:buChar char="●"/>
            </a:pPr>
            <a:r>
              <a:rPr lang="ru" sz="195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KRR с RBF-ядром — предсказывает formation energy</a:t>
            </a:r>
            <a:endParaRPr sz="195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Для промышленного применения KRR существует специальные библиотеки. </a:t>
            </a:r>
            <a:endParaRPr sz="16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Scikit-learn предоставляет универсальную реализацию с множеством ядер, простую в использовании.</a:t>
            </a:r>
            <a:endParaRPr sz="16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GPyTorch на основе PyTorch позволяет задействовать GPU и строить сложные вероятностные модели.</a:t>
            </a:r>
            <a:endParaRPr sz="16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endParaRPr sz="16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ru" sz="169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Для связывания представлений и регрессии в единую модель можно использовать библиотеку-обёртку</a:t>
            </a:r>
            <a:r>
              <a:rPr lang="ru" sz="29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34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>
            <a:spLocks noGrp="1"/>
          </p:cNvSpPr>
          <p:nvPr>
            <p:ph type="ctrTitle"/>
          </p:nvPr>
        </p:nvSpPr>
        <p:spPr>
          <a:xfrm>
            <a:off x="174325" y="213350"/>
            <a:ext cx="51468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Math formulation. SOAP.</a:t>
            </a:r>
            <a:endParaRPr sz="3800"/>
          </a:p>
        </p:txBody>
      </p:sp>
      <p:sp>
        <p:nvSpPr>
          <p:cNvPr id="149" name="Google Shape;149;p27"/>
          <p:cNvSpPr txBox="1">
            <a:spLocks noGrp="1"/>
          </p:cNvSpPr>
          <p:nvPr>
            <p:ph type="subTitle" idx="1"/>
          </p:nvPr>
        </p:nvSpPr>
        <p:spPr>
          <a:xfrm>
            <a:off x="256750" y="1005950"/>
            <a:ext cx="8520600" cy="33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SOAP (Smooth Overlap of Atomic Positions) отображает структуру в вектор фиксированной размерности: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Для каждого атома строится локальная атомная плотность: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Плотность раскладывается по радиальным и угловым базисным функциям: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Инвариантные признаки (power spectrum) получаются как: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Вектор всей структуры — усреднение по атомам: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0" name="Google Shape;150;p27" title="Снимок экрана 2026-05-22 в 03.38.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3350" y="1260600"/>
            <a:ext cx="1827625" cy="54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 title="Снимок экрана 2026-05-22 в 03.40.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3251" y="2028100"/>
            <a:ext cx="3134025" cy="54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 title="Снимок экрана 2026-05-22 в 03.40.5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6962" y="2795600"/>
            <a:ext cx="3086600" cy="48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 title="Снимок экрана 2026-05-22 в 03.41.3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8350" y="3504475"/>
            <a:ext cx="2063800" cy="5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 title="Снимок экрана 2026-05-22 в 03.41.5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3215" y="4244275"/>
            <a:ext cx="1907897" cy="54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ctrTitle"/>
          </p:nvPr>
        </p:nvSpPr>
        <p:spPr>
          <a:xfrm>
            <a:off x="0" y="213350"/>
            <a:ext cx="51468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/>
              <a:t>Math formulation.KRR.</a:t>
            </a:r>
            <a:endParaRPr sz="3500"/>
          </a:p>
        </p:txBody>
      </p:sp>
      <p:sp>
        <p:nvSpPr>
          <p:cNvPr id="160" name="Google Shape;160;p28"/>
          <p:cNvSpPr txBox="1">
            <a:spLocks noGrp="1"/>
          </p:cNvSpPr>
          <p:nvPr>
            <p:ph type="subTitle" idx="1"/>
          </p:nvPr>
        </p:nvSpPr>
        <p:spPr>
          <a:xfrm>
            <a:off x="357500" y="1152500"/>
            <a:ext cx="8520600" cy="38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828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KRR ищет функцию  </a:t>
            </a:r>
            <a:r>
              <a:rPr lang="ru" sz="3978" i="1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ru" sz="3828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 в виде: </a:t>
            </a:r>
            <a:endParaRPr sz="3828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28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828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Используется гауссово (RBF) ядро:</a:t>
            </a:r>
            <a:endParaRPr sz="3828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28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828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Задача обучения — минимизация регуляризованной квадратичной ошибки:</a:t>
            </a:r>
            <a:endParaRPr sz="3828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28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828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Дифференцирование по </a:t>
            </a:r>
            <a:r>
              <a:rPr lang="ru" sz="3978" b="1" i="1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</a:t>
            </a:r>
            <a:r>
              <a:rPr lang="ru" sz="3828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 даёт аналитическое решение:</a:t>
            </a:r>
            <a:endParaRPr sz="3828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28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828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Модель имеет два гиперпараметра:</a:t>
            </a:r>
            <a:endParaRPr sz="3828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728">
                <a:solidFill>
                  <a:schemeClr val="dk1"/>
                </a:solidFill>
              </a:rPr>
              <a:t>Масштаб ядра (γ)</a:t>
            </a:r>
            <a:endParaRPr sz="3728">
              <a:solidFill>
                <a:schemeClr val="dk1"/>
              </a:solidFill>
            </a:endParaRPr>
          </a:p>
          <a:p>
            <a:pPr marL="457200" lvl="0" indent="-307594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3828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Определяет, насколько быстро убывает сходство между объектами при увеличении расстояния между ними в пространстве признаков</a:t>
            </a:r>
            <a:endParaRPr sz="3828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828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Регуляризация (λ)</a:t>
            </a:r>
            <a:endParaRPr sz="3828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7594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3828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Контролирует степень переобучения модели</a:t>
            </a:r>
            <a:endParaRPr sz="3828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28" title="Снимок экрана 2026-05-22 в 03.43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9000" y="1129600"/>
            <a:ext cx="1859600" cy="44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 title="Снимок экрана 2026-05-22 в 03.44.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7312" y="1573675"/>
            <a:ext cx="2593812" cy="44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 title="Снимок экрана 2026-05-22 в 03.44.5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6537" y="1920400"/>
            <a:ext cx="2251189" cy="49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8" title="Снимок экрана 2026-05-22 в 03.45.5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0960" y="2349713"/>
            <a:ext cx="1621840" cy="44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ctrTitle"/>
          </p:nvPr>
        </p:nvSpPr>
        <p:spPr>
          <a:xfrm>
            <a:off x="311700" y="146550"/>
            <a:ext cx="3599100" cy="67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Files structure</a:t>
            </a:r>
            <a:endParaRPr sz="3800"/>
          </a:p>
        </p:txBody>
      </p:sp>
      <p:sp>
        <p:nvSpPr>
          <p:cNvPr id="170" name="Google Shape;170;p29"/>
          <p:cNvSpPr txBox="1">
            <a:spLocks noGrp="1"/>
          </p:cNvSpPr>
          <p:nvPr>
            <p:ph type="subTitle" idx="1"/>
          </p:nvPr>
        </p:nvSpPr>
        <p:spPr>
          <a:xfrm>
            <a:off x="592000" y="943325"/>
            <a:ext cx="4789800" cy="8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4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Распределение количества атомов в ячейке</a:t>
            </a:r>
            <a:br>
              <a:rPr lang="ru" sz="4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4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Большинство структур содержат 40–80 атомов. Это важно для выбора радиуса ограничения SOAP.</a:t>
            </a:r>
            <a:endParaRPr sz="4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4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Распределение долей Al, Ga, In</a:t>
            </a:r>
            <a:br>
              <a:rPr lang="ru" sz="4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4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Все три распределения близки к равномерным — выборка хорошо покрывает весь диапазон составов.</a:t>
            </a:r>
            <a:endParaRPr sz="4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3200"/>
          </a:p>
        </p:txBody>
      </p:sp>
      <p:pic>
        <p:nvPicPr>
          <p:cNvPr id="171" name="Google Shape;171;p29" title="Unknown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5050" y="0"/>
            <a:ext cx="3368950" cy="483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 title="Снимок экрана 2026-05-22 в 03.26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00" y="2460250"/>
            <a:ext cx="4514998" cy="2375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>
            <a:spLocks noGrp="1"/>
          </p:cNvSpPr>
          <p:nvPr>
            <p:ph type="ctrTitle"/>
          </p:nvPr>
        </p:nvSpPr>
        <p:spPr>
          <a:xfrm>
            <a:off x="0" y="120825"/>
            <a:ext cx="4713300" cy="57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680"/>
              <a:t>Code structure</a:t>
            </a:r>
            <a:endParaRPr sz="3680"/>
          </a:p>
        </p:txBody>
      </p:sp>
      <p:sp>
        <p:nvSpPr>
          <p:cNvPr id="178" name="Google Shape;178;p30"/>
          <p:cNvSpPr txBox="1">
            <a:spLocks noGrp="1"/>
          </p:cNvSpPr>
          <p:nvPr>
            <p:ph type="subTitle" idx="1"/>
          </p:nvPr>
        </p:nvSpPr>
        <p:spPr>
          <a:xfrm>
            <a:off x="198425" y="859600"/>
            <a:ext cx="5457000" cy="39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68" b="1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Реализация: SOAP + KRR</a:t>
            </a:r>
            <a:endParaRPr sz="4868" b="1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468" b="1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Генерация признаков: </a:t>
            </a:r>
            <a:r>
              <a:rPr lang="ru" sz="4368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Для каждого материала из XYZ-файла вычисляются SOAP-дескрипторы атомов и усредняются. Получается вектор размерности 2100. </a:t>
            </a:r>
            <a:endParaRPr sz="4368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368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Параметры SOAP: радиус ограничения 5 Å, n_max = 6, l_max = 6, sigma = 0.5.</a:t>
            </a:r>
            <a:endParaRPr sz="4368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4468" b="1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Предобработка: </a:t>
            </a:r>
            <a:r>
              <a:rPr lang="ru" sz="4368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Признаки стандартизируются (StandardScaler). Цель преобразуется как y_log = ln(y + 1) под метрику RMSLE.</a:t>
            </a:r>
            <a:endParaRPr sz="4368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4468" b="1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Модель: </a:t>
            </a:r>
            <a:r>
              <a:rPr lang="ru" sz="4368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Используется Kernel Ridge Regression с RBF-ядром. Гиперпараметры γ (масштаб ядра) и λ (регуляризация) подбираются GridSearch с 3-кратной кросс-валидацией.</a:t>
            </a:r>
            <a:endParaRPr sz="4368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4468" b="1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Предсказание: </a:t>
            </a:r>
            <a:r>
              <a:rPr lang="ru" sz="4368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Обученная модель делает предсказания на тестовой выборке, после чего применяется обратное преобразование ŷ = exp(ŷ_log) − 1.</a:t>
            </a:r>
            <a:endParaRPr sz="4368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4468" b="1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Результат</a:t>
            </a:r>
            <a:endParaRPr sz="4468" b="1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368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RMSLE = 0.046 </a:t>
            </a:r>
            <a:endParaRPr/>
          </a:p>
        </p:txBody>
      </p:sp>
      <p:pic>
        <p:nvPicPr>
          <p:cNvPr id="179" name="Google Shape;179;p30" title="Снимок экрана 2026-05-22 в 02.25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8845" y="0"/>
            <a:ext cx="360515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>
            <a:spLocks noGrp="1"/>
          </p:cNvSpPr>
          <p:nvPr>
            <p:ph type="ctrTitle"/>
          </p:nvPr>
        </p:nvSpPr>
        <p:spPr>
          <a:xfrm>
            <a:off x="0" y="125800"/>
            <a:ext cx="2811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Results</a:t>
            </a:r>
            <a:endParaRPr sz="3800"/>
          </a:p>
        </p:txBody>
      </p:sp>
      <p:sp>
        <p:nvSpPr>
          <p:cNvPr id="185" name="Google Shape;185;p31"/>
          <p:cNvSpPr txBox="1">
            <a:spLocks noGrp="1"/>
          </p:cNvSpPr>
          <p:nvPr>
            <p:ph type="subTitle" idx="1"/>
          </p:nvPr>
        </p:nvSpPr>
        <p:spPr>
          <a:xfrm>
            <a:off x="824275" y="4456675"/>
            <a:ext cx="7820100" cy="4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1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Графики демонстрируют, что модель не переобучена (средняя ошибка близка к нулю) и даёт стабильные предсказания (малый разброс остатков).</a:t>
            </a:r>
            <a:endParaRPr sz="11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sz="700"/>
          </a:p>
        </p:txBody>
      </p:sp>
      <p:pic>
        <p:nvPicPr>
          <p:cNvPr id="186" name="Google Shape;186;p31" title="Unknown-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425" y="868300"/>
            <a:ext cx="4239180" cy="348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1" title="Unknown-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213" y="868300"/>
            <a:ext cx="4140224" cy="348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1" title="Снимок экрана 2026-05-22 в 03.18.2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8938" y="79750"/>
            <a:ext cx="1950775" cy="99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1277</Words>
  <Application>Microsoft Macintosh PowerPoint</Application>
  <PresentationFormat>Экран (16:9)</PresentationFormat>
  <Paragraphs>172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Courier New</vt:lpstr>
      <vt:lpstr>Arial</vt:lpstr>
      <vt:lpstr>Roboto</vt:lpstr>
      <vt:lpstr>Times New Roman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Nomad2018  Predicting Transparent Conductors</vt:lpstr>
      <vt:lpstr>Introduction</vt:lpstr>
      <vt:lpstr>Winner’s methods</vt:lpstr>
      <vt:lpstr>Solution with KRR</vt:lpstr>
      <vt:lpstr>Math formulation. SOAP.</vt:lpstr>
      <vt:lpstr>Math formulation.KRR.</vt:lpstr>
      <vt:lpstr>Files structure</vt:lpstr>
      <vt:lpstr>Code structure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Елизавета Александрович</cp:lastModifiedBy>
  <cp:revision>1</cp:revision>
  <dcterms:modified xsi:type="dcterms:W3CDTF">2026-09-02T14:03:52Z</dcterms:modified>
</cp:coreProperties>
</file>